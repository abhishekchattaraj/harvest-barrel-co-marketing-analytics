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2" r:id="rId3"/>
    <p:sldId id="261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6F51"/>
    <a:srgbClr val="2E3325"/>
    <a:srgbClr val="997547"/>
    <a:srgbClr val="DCCEB2"/>
    <a:srgbClr val="D79E3D"/>
    <a:srgbClr val="F3C778"/>
    <a:srgbClr val="64664A"/>
    <a:srgbClr val="F5C97C"/>
    <a:srgbClr val="ECE4D4"/>
    <a:srgbClr val="8572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88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7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37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75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7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29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0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85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59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5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06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8400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141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982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718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615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36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056EE62-F5FE-436F-B876-86BFE102E51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09B2D51-5A32-4098-A285-2B5533480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370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svg"/><Relationship Id="rId21" Type="http://schemas.openxmlformats.org/officeDocument/2006/relationships/image" Target="../media/image23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5" Type="http://schemas.openxmlformats.org/officeDocument/2006/relationships/image" Target="../media/image27.sv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24" Type="http://schemas.openxmlformats.org/officeDocument/2006/relationships/image" Target="../media/image26.pn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C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26B39E-7B1E-9B6D-5BD2-3BFEAA025245}"/>
              </a:ext>
            </a:extLst>
          </p:cNvPr>
          <p:cNvSpPr/>
          <p:nvPr/>
        </p:nvSpPr>
        <p:spPr>
          <a:xfrm>
            <a:off x="0" y="1903"/>
            <a:ext cx="3376016" cy="6414096"/>
          </a:xfrm>
          <a:prstGeom prst="rect">
            <a:avLst/>
          </a:prstGeom>
          <a:gradFill flip="none" rotWithShape="1">
            <a:gsLst>
              <a:gs pos="52000">
                <a:srgbClr val="4A523C"/>
              </a:gs>
              <a:gs pos="0">
                <a:srgbClr val="2E3325"/>
              </a:gs>
              <a:gs pos="100000">
                <a:srgbClr val="2E332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3200" dirty="0">
              <a:solidFill>
                <a:srgbClr val="ECE4D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FD211F-0605-ACC7-A1E3-12A76E87B6F5}"/>
              </a:ext>
            </a:extLst>
          </p:cNvPr>
          <p:cNvSpPr/>
          <p:nvPr/>
        </p:nvSpPr>
        <p:spPr>
          <a:xfrm>
            <a:off x="0" y="6415999"/>
            <a:ext cx="12192000" cy="462116"/>
          </a:xfrm>
          <a:prstGeom prst="rect">
            <a:avLst/>
          </a:prstGeom>
          <a:gradFill flip="none" rotWithShape="1">
            <a:gsLst>
              <a:gs pos="52000">
                <a:srgbClr val="4A523C"/>
              </a:gs>
              <a:gs pos="0">
                <a:srgbClr val="2E3325"/>
              </a:gs>
              <a:gs pos="100000">
                <a:srgbClr val="2E332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spc="300" dirty="0">
                <a:solidFill>
                  <a:srgbClr val="ECE4D4"/>
                </a:solidFill>
              </a:rPr>
              <a:t>Developed by Abhishek Chattaraj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A162A-DDAB-D7FA-2A92-B8EBACE1BB10}"/>
              </a:ext>
            </a:extLst>
          </p:cNvPr>
          <p:cNvSpPr/>
          <p:nvPr/>
        </p:nvSpPr>
        <p:spPr>
          <a:xfrm rot="5400000" flipV="1">
            <a:off x="168968" y="3177203"/>
            <a:ext cx="6414097" cy="45719"/>
          </a:xfrm>
          <a:prstGeom prst="rect">
            <a:avLst/>
          </a:prstGeom>
          <a:gradFill flip="none" rotWithShape="1">
            <a:gsLst>
              <a:gs pos="0">
                <a:srgbClr val="85724C"/>
              </a:gs>
              <a:gs pos="100000">
                <a:srgbClr val="8572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50B27E-9089-6105-6E3A-EFB0D3CFC348}"/>
              </a:ext>
            </a:extLst>
          </p:cNvPr>
          <p:cNvSpPr/>
          <p:nvPr/>
        </p:nvSpPr>
        <p:spPr>
          <a:xfrm>
            <a:off x="0" y="6379999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85724C"/>
              </a:gs>
              <a:gs pos="100000">
                <a:srgbClr val="8572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CACE5A-536F-9EDB-CB31-3E0448266F03}"/>
              </a:ext>
            </a:extLst>
          </p:cNvPr>
          <p:cNvSpPr txBox="1"/>
          <p:nvPr/>
        </p:nvSpPr>
        <p:spPr>
          <a:xfrm>
            <a:off x="270688" y="1255864"/>
            <a:ext cx="2834640" cy="4770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600" spc="300" dirty="0">
                <a:solidFill>
                  <a:srgbClr val="ECE4D4"/>
                </a:solidFill>
                <a:effectLst>
                  <a:outerShdw blurRad="50800" dist="38100" dir="2700000" algn="tl" rotWithShape="0">
                    <a:srgbClr val="DCCEB2">
                      <a:alpha val="40000"/>
                    </a:srgbClr>
                  </a:outerShdw>
                </a:effectLst>
              </a:rPr>
              <a:t>Harvest &amp; Barrel Co.</a:t>
            </a:r>
          </a:p>
          <a:p>
            <a:pPr algn="ctr"/>
            <a:r>
              <a:rPr lang="en-IN" sz="900" spc="300" dirty="0">
                <a:solidFill>
                  <a:srgbClr val="ECE4D4"/>
                </a:solidFill>
                <a:effectLst>
                  <a:outerShdw blurRad="50800" dist="38100" dir="2700000" algn="tl" rotWithShape="0">
                    <a:srgbClr val="DCCEB2">
                      <a:alpha val="40000"/>
                    </a:srgbClr>
                  </a:outerShdw>
                </a:effectLst>
              </a:rPr>
              <a:t>From Farm to Flavour</a:t>
            </a:r>
          </a:p>
        </p:txBody>
      </p:sp>
      <p:pic>
        <p:nvPicPr>
          <p:cNvPr id="18" name="Graphic 17" descr="Farm scene with solid fill">
            <a:extLst>
              <a:ext uri="{FF2B5EF4-FFF2-40B4-BE49-F238E27FC236}">
                <a16:creationId xmlns:a16="http://schemas.microsoft.com/office/drawing/2014/main" id="{38DB0274-199F-1D9D-05C5-1788903FF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938" y="182184"/>
            <a:ext cx="1200623" cy="1200623"/>
          </a:xfrm>
          <a:prstGeom prst="rect">
            <a:avLst/>
          </a:prstGeom>
          <a:effectLst>
            <a:outerShdw blurRad="50800" dist="38100" dir="2700000" algn="tl" rotWithShape="0">
              <a:srgbClr val="646F51">
                <a:alpha val="40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F0C585-A58F-2DBC-BF68-22471F297627}"/>
              </a:ext>
            </a:extLst>
          </p:cNvPr>
          <p:cNvSpPr/>
          <p:nvPr/>
        </p:nvSpPr>
        <p:spPr>
          <a:xfrm>
            <a:off x="3398876" y="0"/>
            <a:ext cx="8793124" cy="871618"/>
          </a:xfrm>
          <a:prstGeom prst="rect">
            <a:avLst/>
          </a:prstGeom>
          <a:gradFill flip="none" rotWithShape="1">
            <a:gsLst>
              <a:gs pos="52000">
                <a:srgbClr val="4A523C"/>
              </a:gs>
              <a:gs pos="0">
                <a:srgbClr val="2E3325"/>
              </a:gs>
              <a:gs pos="100000">
                <a:srgbClr val="2E332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spc="300" dirty="0">
                <a:solidFill>
                  <a:srgbClr val="ECE4D4"/>
                </a:solidFill>
              </a:rPr>
              <a:t>Executive Summary: Performance Overview and Strategic Insights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78CC1-8938-AB36-9961-116C471F07C0}"/>
              </a:ext>
            </a:extLst>
          </p:cNvPr>
          <p:cNvSpPr/>
          <p:nvPr/>
        </p:nvSpPr>
        <p:spPr>
          <a:xfrm>
            <a:off x="3398876" y="837923"/>
            <a:ext cx="8793124" cy="45719"/>
          </a:xfrm>
          <a:prstGeom prst="rect">
            <a:avLst/>
          </a:prstGeom>
          <a:gradFill flip="none" rotWithShape="1">
            <a:gsLst>
              <a:gs pos="0">
                <a:srgbClr val="85724C"/>
              </a:gs>
              <a:gs pos="100000">
                <a:srgbClr val="8572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824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CEB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61666-4AB3-2592-A929-B3F367EA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3F503B-8B5D-C6D9-6C87-059BC74AF9EC}"/>
              </a:ext>
            </a:extLst>
          </p:cNvPr>
          <p:cNvSpPr/>
          <p:nvPr/>
        </p:nvSpPr>
        <p:spPr>
          <a:xfrm>
            <a:off x="0" y="-18394"/>
            <a:ext cx="12192000" cy="462116"/>
          </a:xfrm>
          <a:prstGeom prst="rect">
            <a:avLst/>
          </a:prstGeom>
          <a:gradFill flip="none" rotWithShape="1">
            <a:gsLst>
              <a:gs pos="52000">
                <a:srgbClr val="4A523C"/>
              </a:gs>
              <a:gs pos="0">
                <a:srgbClr val="2E3325"/>
              </a:gs>
              <a:gs pos="100000">
                <a:srgbClr val="2E332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spc="300" dirty="0">
                <a:solidFill>
                  <a:srgbClr val="ECE4D4"/>
                </a:solidFill>
              </a:rPr>
              <a:t>Campaign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BE21DA-9E8B-0C16-AE1E-83C4BEEE35C0}"/>
              </a:ext>
            </a:extLst>
          </p:cNvPr>
          <p:cNvSpPr/>
          <p:nvPr/>
        </p:nvSpPr>
        <p:spPr>
          <a:xfrm>
            <a:off x="0" y="6415999"/>
            <a:ext cx="12192000" cy="462116"/>
          </a:xfrm>
          <a:prstGeom prst="rect">
            <a:avLst/>
          </a:prstGeom>
          <a:gradFill flip="none" rotWithShape="1">
            <a:gsLst>
              <a:gs pos="52000">
                <a:srgbClr val="4A523C"/>
              </a:gs>
              <a:gs pos="0">
                <a:srgbClr val="2E3325"/>
              </a:gs>
              <a:gs pos="100000">
                <a:srgbClr val="2E332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spc="300" dirty="0">
                <a:solidFill>
                  <a:srgbClr val="ECE4D4"/>
                </a:solidFill>
              </a:rPr>
              <a:t>Developed by Abhishek Chattaraj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64DB94-3424-F4E4-A54E-73CED4C95F22}"/>
              </a:ext>
            </a:extLst>
          </p:cNvPr>
          <p:cNvSpPr/>
          <p:nvPr/>
        </p:nvSpPr>
        <p:spPr>
          <a:xfrm>
            <a:off x="0" y="442001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85724C"/>
              </a:gs>
              <a:gs pos="100000">
                <a:srgbClr val="8572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594D06-20EE-D938-6309-5C128B8593B0}"/>
              </a:ext>
            </a:extLst>
          </p:cNvPr>
          <p:cNvSpPr/>
          <p:nvPr/>
        </p:nvSpPr>
        <p:spPr>
          <a:xfrm>
            <a:off x="0" y="6379999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85724C"/>
              </a:gs>
              <a:gs pos="100000">
                <a:srgbClr val="8572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B73A8-2F99-397F-0EEC-15591D8EC174}"/>
              </a:ext>
            </a:extLst>
          </p:cNvPr>
          <p:cNvSpPr txBox="1"/>
          <p:nvPr/>
        </p:nvSpPr>
        <p:spPr>
          <a:xfrm>
            <a:off x="8970797" y="1787"/>
            <a:ext cx="2834640" cy="4770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600" spc="300" dirty="0">
                <a:solidFill>
                  <a:srgbClr val="ECE4D4"/>
                </a:solidFill>
                <a:effectLst>
                  <a:outerShdw blurRad="50800" dist="38100" dir="2700000" algn="tl" rotWithShape="0">
                    <a:srgbClr val="DCCEB2">
                      <a:alpha val="40000"/>
                    </a:srgbClr>
                  </a:outerShdw>
                </a:effectLst>
              </a:rPr>
              <a:t>Harvest &amp; Barrel Co.</a:t>
            </a:r>
          </a:p>
          <a:p>
            <a:r>
              <a:rPr lang="en-IN" sz="900" spc="300" dirty="0">
                <a:solidFill>
                  <a:srgbClr val="ECE4D4"/>
                </a:solidFill>
                <a:effectLst>
                  <a:outerShdw blurRad="50800" dist="38100" dir="2700000" algn="tl" rotWithShape="0">
                    <a:srgbClr val="DCCEB2">
                      <a:alpha val="40000"/>
                    </a:srgbClr>
                  </a:outerShdw>
                </a:effectLst>
              </a:rPr>
              <a:t>From Farm to Flavour</a:t>
            </a:r>
          </a:p>
        </p:txBody>
      </p:sp>
      <p:pic>
        <p:nvPicPr>
          <p:cNvPr id="18" name="Graphic 17" descr="Farm scene with solid fill">
            <a:extLst>
              <a:ext uri="{FF2B5EF4-FFF2-40B4-BE49-F238E27FC236}">
                <a16:creationId xmlns:a16="http://schemas.microsoft.com/office/drawing/2014/main" id="{A7D9018B-7B0E-DBE1-73D8-6D9114E61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2891" y="-35491"/>
            <a:ext cx="530035" cy="53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24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CEB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25FE8-1426-19C5-B5D1-9912235AA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26EEA5-08FC-3098-60AE-088B5F8EFC4B}"/>
              </a:ext>
            </a:extLst>
          </p:cNvPr>
          <p:cNvSpPr/>
          <p:nvPr/>
        </p:nvSpPr>
        <p:spPr>
          <a:xfrm>
            <a:off x="0" y="-18394"/>
            <a:ext cx="12192000" cy="462116"/>
          </a:xfrm>
          <a:prstGeom prst="rect">
            <a:avLst/>
          </a:prstGeom>
          <a:gradFill flip="none" rotWithShape="1">
            <a:gsLst>
              <a:gs pos="52000">
                <a:srgbClr val="4A523C"/>
              </a:gs>
              <a:gs pos="0">
                <a:srgbClr val="2E3325"/>
              </a:gs>
              <a:gs pos="100000">
                <a:srgbClr val="2E332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spc="300" dirty="0">
                <a:solidFill>
                  <a:srgbClr val="ECE4D4"/>
                </a:solidFill>
              </a:rPr>
              <a:t>Buyer Composition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9BA71-DAD1-1216-3087-0FD3FED40F1A}"/>
              </a:ext>
            </a:extLst>
          </p:cNvPr>
          <p:cNvSpPr/>
          <p:nvPr/>
        </p:nvSpPr>
        <p:spPr>
          <a:xfrm>
            <a:off x="0" y="6415999"/>
            <a:ext cx="12192000" cy="462116"/>
          </a:xfrm>
          <a:prstGeom prst="rect">
            <a:avLst/>
          </a:prstGeom>
          <a:gradFill flip="none" rotWithShape="1">
            <a:gsLst>
              <a:gs pos="52000">
                <a:srgbClr val="4A523C"/>
              </a:gs>
              <a:gs pos="0">
                <a:srgbClr val="2E3325"/>
              </a:gs>
              <a:gs pos="100000">
                <a:srgbClr val="2E332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spc="300" dirty="0">
                <a:solidFill>
                  <a:srgbClr val="ECE4D4"/>
                </a:solidFill>
              </a:rPr>
              <a:t>Developed by Abhishek Chattaraj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4D8103-0339-3B6E-4558-4F73DC06C926}"/>
              </a:ext>
            </a:extLst>
          </p:cNvPr>
          <p:cNvSpPr/>
          <p:nvPr/>
        </p:nvSpPr>
        <p:spPr>
          <a:xfrm>
            <a:off x="0" y="442001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85724C"/>
              </a:gs>
              <a:gs pos="100000">
                <a:srgbClr val="8572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38CA84-C131-D50D-7C61-1DEC0CFB776F}"/>
              </a:ext>
            </a:extLst>
          </p:cNvPr>
          <p:cNvSpPr/>
          <p:nvPr/>
        </p:nvSpPr>
        <p:spPr>
          <a:xfrm>
            <a:off x="0" y="6379999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85724C"/>
              </a:gs>
              <a:gs pos="100000">
                <a:srgbClr val="8572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15D1C6-91B2-6343-4811-DA72AEF17696}"/>
              </a:ext>
            </a:extLst>
          </p:cNvPr>
          <p:cNvSpPr txBox="1"/>
          <p:nvPr/>
        </p:nvSpPr>
        <p:spPr>
          <a:xfrm>
            <a:off x="8970797" y="1787"/>
            <a:ext cx="2834640" cy="4770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600" spc="300" dirty="0">
                <a:solidFill>
                  <a:srgbClr val="ECE4D4"/>
                </a:solidFill>
                <a:effectLst>
                  <a:outerShdw blurRad="50800" dist="38100" dir="2700000" algn="tl" rotWithShape="0">
                    <a:srgbClr val="DCCEB2">
                      <a:alpha val="40000"/>
                    </a:srgbClr>
                  </a:outerShdw>
                </a:effectLst>
              </a:rPr>
              <a:t>Harvest &amp; Barrel Co.</a:t>
            </a:r>
          </a:p>
          <a:p>
            <a:r>
              <a:rPr lang="en-IN" sz="900" spc="300" dirty="0">
                <a:solidFill>
                  <a:srgbClr val="ECE4D4"/>
                </a:solidFill>
                <a:effectLst>
                  <a:outerShdw blurRad="50800" dist="38100" dir="2700000" algn="tl" rotWithShape="0">
                    <a:srgbClr val="DCCEB2">
                      <a:alpha val="40000"/>
                    </a:srgbClr>
                  </a:outerShdw>
                </a:effectLst>
              </a:rPr>
              <a:t>From Farm to Flavour</a:t>
            </a:r>
          </a:p>
        </p:txBody>
      </p:sp>
      <p:pic>
        <p:nvPicPr>
          <p:cNvPr id="18" name="Graphic 17" descr="Farm scene with solid fill">
            <a:extLst>
              <a:ext uri="{FF2B5EF4-FFF2-40B4-BE49-F238E27FC236}">
                <a16:creationId xmlns:a16="http://schemas.microsoft.com/office/drawing/2014/main" id="{26925B8D-71DC-CB8B-2541-1C08ACDB6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2891" y="-35491"/>
            <a:ext cx="530035" cy="53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0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CEB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55414-CA37-C664-0399-2CC3629C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A8039A-FAD5-6524-78F1-3579710F50C8}"/>
              </a:ext>
            </a:extLst>
          </p:cNvPr>
          <p:cNvSpPr/>
          <p:nvPr/>
        </p:nvSpPr>
        <p:spPr>
          <a:xfrm>
            <a:off x="0" y="-18394"/>
            <a:ext cx="12192000" cy="462116"/>
          </a:xfrm>
          <a:prstGeom prst="rect">
            <a:avLst/>
          </a:prstGeom>
          <a:gradFill flip="none" rotWithShape="1">
            <a:gsLst>
              <a:gs pos="52000">
                <a:srgbClr val="4A523C"/>
              </a:gs>
              <a:gs pos="0">
                <a:srgbClr val="2E3325"/>
              </a:gs>
              <a:gs pos="100000">
                <a:srgbClr val="2E332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spc="300" dirty="0">
                <a:solidFill>
                  <a:srgbClr val="ECE4D4"/>
                </a:solidFill>
              </a:rPr>
              <a:t>Purchase Drivers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3507A5-460F-0164-DCF6-04B862A92457}"/>
              </a:ext>
            </a:extLst>
          </p:cNvPr>
          <p:cNvSpPr/>
          <p:nvPr/>
        </p:nvSpPr>
        <p:spPr>
          <a:xfrm>
            <a:off x="0" y="6415999"/>
            <a:ext cx="12192000" cy="462116"/>
          </a:xfrm>
          <a:prstGeom prst="rect">
            <a:avLst/>
          </a:prstGeom>
          <a:gradFill flip="none" rotWithShape="1">
            <a:gsLst>
              <a:gs pos="52000">
                <a:srgbClr val="4A523C"/>
              </a:gs>
              <a:gs pos="0">
                <a:srgbClr val="2E3325"/>
              </a:gs>
              <a:gs pos="100000">
                <a:srgbClr val="2E332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spc="300" dirty="0">
                <a:solidFill>
                  <a:srgbClr val="ECE4D4"/>
                </a:solidFill>
              </a:rPr>
              <a:t>Developed by Abhishek Chattaraj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0E554A-5BBF-11B7-A904-A161D9DCBEBF}"/>
              </a:ext>
            </a:extLst>
          </p:cNvPr>
          <p:cNvSpPr/>
          <p:nvPr/>
        </p:nvSpPr>
        <p:spPr>
          <a:xfrm>
            <a:off x="0" y="442001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85724C"/>
              </a:gs>
              <a:gs pos="100000">
                <a:srgbClr val="8572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ECE010-943D-457B-2A3C-823228712DF8}"/>
              </a:ext>
            </a:extLst>
          </p:cNvPr>
          <p:cNvSpPr/>
          <p:nvPr/>
        </p:nvSpPr>
        <p:spPr>
          <a:xfrm>
            <a:off x="0" y="6379999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85724C"/>
              </a:gs>
              <a:gs pos="100000">
                <a:srgbClr val="8572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55EB3E-D9DE-91F6-1465-8F4111E2A7E7}"/>
              </a:ext>
            </a:extLst>
          </p:cNvPr>
          <p:cNvSpPr txBox="1"/>
          <p:nvPr/>
        </p:nvSpPr>
        <p:spPr>
          <a:xfrm>
            <a:off x="8970797" y="1787"/>
            <a:ext cx="2834640" cy="4770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600" spc="300" dirty="0">
                <a:solidFill>
                  <a:srgbClr val="ECE4D4"/>
                </a:solidFill>
                <a:effectLst>
                  <a:outerShdw blurRad="50800" dist="38100" dir="2700000" algn="tl" rotWithShape="0">
                    <a:srgbClr val="DCCEB2">
                      <a:alpha val="40000"/>
                    </a:srgbClr>
                  </a:outerShdw>
                </a:effectLst>
              </a:rPr>
              <a:t>Harvest &amp; Barrel Co.</a:t>
            </a:r>
          </a:p>
          <a:p>
            <a:r>
              <a:rPr lang="en-IN" sz="900" spc="300" dirty="0">
                <a:solidFill>
                  <a:srgbClr val="ECE4D4"/>
                </a:solidFill>
                <a:effectLst>
                  <a:outerShdw blurRad="50800" dist="38100" dir="2700000" algn="tl" rotWithShape="0">
                    <a:srgbClr val="DCCEB2">
                      <a:alpha val="40000"/>
                    </a:srgbClr>
                  </a:outerShdw>
                </a:effectLst>
              </a:rPr>
              <a:t>From Farm to Flavour</a:t>
            </a:r>
          </a:p>
        </p:txBody>
      </p:sp>
      <p:pic>
        <p:nvPicPr>
          <p:cNvPr id="18" name="Graphic 17" descr="Farm scene with solid fill">
            <a:extLst>
              <a:ext uri="{FF2B5EF4-FFF2-40B4-BE49-F238E27FC236}">
                <a16:creationId xmlns:a16="http://schemas.microsoft.com/office/drawing/2014/main" id="{CEC7FC47-2CF4-DF4A-3633-7ADF8739E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2891" y="-35491"/>
            <a:ext cx="530035" cy="53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66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FEA88-88A4-26A4-49FF-AFC494B7CAD8}"/>
              </a:ext>
            </a:extLst>
          </p:cNvPr>
          <p:cNvSpPr/>
          <p:nvPr/>
        </p:nvSpPr>
        <p:spPr>
          <a:xfrm>
            <a:off x="1209367" y="361335"/>
            <a:ext cx="983226" cy="904568"/>
          </a:xfrm>
          <a:prstGeom prst="rect">
            <a:avLst/>
          </a:prstGeom>
          <a:solidFill>
            <a:srgbClr val="2E33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spc="300">
              <a:solidFill>
                <a:srgbClr val="ECE4D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6BE72-FED8-7EBD-F692-380B142845D1}"/>
              </a:ext>
            </a:extLst>
          </p:cNvPr>
          <p:cNvSpPr/>
          <p:nvPr/>
        </p:nvSpPr>
        <p:spPr>
          <a:xfrm>
            <a:off x="2488965" y="361335"/>
            <a:ext cx="983226" cy="904568"/>
          </a:xfrm>
          <a:prstGeom prst="rect">
            <a:avLst/>
          </a:prstGeom>
          <a:solidFill>
            <a:srgbClr val="ECE4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37EA38-FC24-13B8-B3D5-CE309E477E5C}"/>
              </a:ext>
            </a:extLst>
          </p:cNvPr>
          <p:cNvSpPr/>
          <p:nvPr/>
        </p:nvSpPr>
        <p:spPr>
          <a:xfrm>
            <a:off x="3768563" y="361335"/>
            <a:ext cx="983226" cy="904568"/>
          </a:xfrm>
          <a:prstGeom prst="rect">
            <a:avLst/>
          </a:prstGeom>
          <a:solidFill>
            <a:srgbClr val="9975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EA3C36-7C82-01DF-43D7-52CA8748800E}"/>
              </a:ext>
            </a:extLst>
          </p:cNvPr>
          <p:cNvSpPr/>
          <p:nvPr/>
        </p:nvSpPr>
        <p:spPr>
          <a:xfrm>
            <a:off x="5048161" y="361335"/>
            <a:ext cx="983226" cy="904568"/>
          </a:xfrm>
          <a:prstGeom prst="rect">
            <a:avLst/>
          </a:prstGeom>
          <a:solidFill>
            <a:srgbClr val="DCC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097A4-374F-518C-2724-5649568D52A0}"/>
              </a:ext>
            </a:extLst>
          </p:cNvPr>
          <p:cNvSpPr/>
          <p:nvPr/>
        </p:nvSpPr>
        <p:spPr>
          <a:xfrm>
            <a:off x="6327759" y="361335"/>
            <a:ext cx="983226" cy="904568"/>
          </a:xfrm>
          <a:prstGeom prst="rect">
            <a:avLst/>
          </a:prstGeom>
          <a:solidFill>
            <a:srgbClr val="F5C9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20E595-F406-FD7A-DF67-D571B8001D5B}"/>
              </a:ext>
            </a:extLst>
          </p:cNvPr>
          <p:cNvSpPr/>
          <p:nvPr/>
        </p:nvSpPr>
        <p:spPr>
          <a:xfrm>
            <a:off x="7607357" y="361335"/>
            <a:ext cx="983226" cy="904568"/>
          </a:xfrm>
          <a:prstGeom prst="rect">
            <a:avLst/>
          </a:prstGeom>
          <a:solidFill>
            <a:srgbClr val="6466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0C402B-18B2-F5E9-8AAA-6B8CCC0C600F}"/>
              </a:ext>
            </a:extLst>
          </p:cNvPr>
          <p:cNvSpPr/>
          <p:nvPr/>
        </p:nvSpPr>
        <p:spPr>
          <a:xfrm>
            <a:off x="8886955" y="361335"/>
            <a:ext cx="983226" cy="904568"/>
          </a:xfrm>
          <a:prstGeom prst="rect">
            <a:avLst/>
          </a:prstGeom>
          <a:solidFill>
            <a:srgbClr val="D79E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3AFECD-1A8C-299E-72E3-8D87B6803F42}"/>
              </a:ext>
            </a:extLst>
          </p:cNvPr>
          <p:cNvSpPr/>
          <p:nvPr/>
        </p:nvSpPr>
        <p:spPr>
          <a:xfrm>
            <a:off x="10166556" y="361335"/>
            <a:ext cx="983226" cy="90456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Graphic 12" descr="Wine with solid fill">
            <a:extLst>
              <a:ext uri="{FF2B5EF4-FFF2-40B4-BE49-F238E27FC236}">
                <a16:creationId xmlns:a16="http://schemas.microsoft.com/office/drawing/2014/main" id="{EE0D05A2-64A6-204B-41F1-E818C1A22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57" y="1496961"/>
            <a:ext cx="914400" cy="914400"/>
          </a:xfrm>
          <a:prstGeom prst="rect">
            <a:avLst/>
          </a:prstGeom>
        </p:spPr>
      </p:pic>
      <p:pic>
        <p:nvPicPr>
          <p:cNvPr id="15" name="Graphic 14" descr="Pie with solid fill">
            <a:extLst>
              <a:ext uri="{FF2B5EF4-FFF2-40B4-BE49-F238E27FC236}">
                <a16:creationId xmlns:a16="http://schemas.microsoft.com/office/drawing/2014/main" id="{40D0720E-450A-A620-A63B-9377B593A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6357" y="1496961"/>
            <a:ext cx="914400" cy="914400"/>
          </a:xfrm>
          <a:prstGeom prst="rect">
            <a:avLst/>
          </a:prstGeom>
        </p:spPr>
      </p:pic>
      <p:pic>
        <p:nvPicPr>
          <p:cNvPr id="19" name="Graphic 18" descr="Chicken leg with solid fill">
            <a:extLst>
              <a:ext uri="{FF2B5EF4-FFF2-40B4-BE49-F238E27FC236}">
                <a16:creationId xmlns:a16="http://schemas.microsoft.com/office/drawing/2014/main" id="{969BC951-50AD-8A5E-4C68-97D4A6A101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2957" y="1496961"/>
            <a:ext cx="914400" cy="914400"/>
          </a:xfrm>
          <a:prstGeom prst="rect">
            <a:avLst/>
          </a:prstGeom>
        </p:spPr>
      </p:pic>
      <p:pic>
        <p:nvPicPr>
          <p:cNvPr id="21" name="Graphic 20" descr="Apple with solid fill">
            <a:extLst>
              <a:ext uri="{FF2B5EF4-FFF2-40B4-BE49-F238E27FC236}">
                <a16:creationId xmlns:a16="http://schemas.microsoft.com/office/drawing/2014/main" id="{3F06A3F6-634F-CB33-2084-9A1C851B0A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257" y="1496961"/>
            <a:ext cx="914400" cy="914400"/>
          </a:xfrm>
          <a:prstGeom prst="rect">
            <a:avLst/>
          </a:prstGeom>
        </p:spPr>
      </p:pic>
      <p:pic>
        <p:nvPicPr>
          <p:cNvPr id="23" name="Graphic 22" descr="Dead Fish Skeleton with solid fill">
            <a:extLst>
              <a:ext uri="{FF2B5EF4-FFF2-40B4-BE49-F238E27FC236}">
                <a16:creationId xmlns:a16="http://schemas.microsoft.com/office/drawing/2014/main" id="{924BE609-BEB1-00B0-8EA1-3DD7EEE779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69557" y="1496961"/>
            <a:ext cx="914400" cy="914400"/>
          </a:xfrm>
          <a:prstGeom prst="rect">
            <a:avLst/>
          </a:prstGeom>
        </p:spPr>
      </p:pic>
      <p:pic>
        <p:nvPicPr>
          <p:cNvPr id="27" name="Graphic 26" descr="Donut with solid fill">
            <a:extLst>
              <a:ext uri="{FF2B5EF4-FFF2-40B4-BE49-F238E27FC236}">
                <a16:creationId xmlns:a16="http://schemas.microsoft.com/office/drawing/2014/main" id="{9C267CB2-E2F1-AABB-A768-31EAC285C5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91546" y="1496961"/>
            <a:ext cx="914400" cy="914400"/>
          </a:xfrm>
          <a:prstGeom prst="rect">
            <a:avLst/>
          </a:prstGeom>
        </p:spPr>
      </p:pic>
      <p:pic>
        <p:nvPicPr>
          <p:cNvPr id="3" name="Graphic 2" descr="Monthly calendar with solid fill">
            <a:extLst>
              <a:ext uri="{FF2B5EF4-FFF2-40B4-BE49-F238E27FC236}">
                <a16:creationId xmlns:a16="http://schemas.microsoft.com/office/drawing/2014/main" id="{FA90728B-C472-D95A-4437-206A67631B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92120" y="342900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Graphic 13" descr="Internet with solid fill">
            <a:extLst>
              <a:ext uri="{FF2B5EF4-FFF2-40B4-BE49-F238E27FC236}">
                <a16:creationId xmlns:a16="http://schemas.microsoft.com/office/drawing/2014/main" id="{825FA191-C454-12AD-8604-9D0FD08F9D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117557" y="342900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Graphic 16" descr="Open book with solid fill">
            <a:extLst>
              <a:ext uri="{FF2B5EF4-FFF2-40B4-BE49-F238E27FC236}">
                <a16:creationId xmlns:a16="http://schemas.microsoft.com/office/drawing/2014/main" id="{B79B7B05-519E-7AE1-EDC4-6F931C2BAF2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42994" y="342900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Graphic 19" descr="Store with solid fill">
            <a:extLst>
              <a:ext uri="{FF2B5EF4-FFF2-40B4-BE49-F238E27FC236}">
                <a16:creationId xmlns:a16="http://schemas.microsoft.com/office/drawing/2014/main" id="{8C44E16C-73AE-0DA9-B7CB-3407B84FBB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68431" y="342900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Graphic 23" descr="Money with solid fill">
            <a:extLst>
              <a:ext uri="{FF2B5EF4-FFF2-40B4-BE49-F238E27FC236}">
                <a16:creationId xmlns:a16="http://schemas.microsoft.com/office/drawing/2014/main" id="{5BDAC485-8B54-E08F-2E52-CB3D31F1FEC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93868" y="342900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Graphic 25" descr="Coins with solid fill">
            <a:extLst>
              <a:ext uri="{FF2B5EF4-FFF2-40B4-BE49-F238E27FC236}">
                <a16:creationId xmlns:a16="http://schemas.microsoft.com/office/drawing/2014/main" id="{AACA1C70-AA98-1571-BBFA-4120A960880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44742" y="342900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Graphic 28" descr="Man with cane with solid fill">
            <a:extLst>
              <a:ext uri="{FF2B5EF4-FFF2-40B4-BE49-F238E27FC236}">
                <a16:creationId xmlns:a16="http://schemas.microsoft.com/office/drawing/2014/main" id="{BDE23439-9EDF-BDE5-C7B4-4F4E12AF65F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619305" y="342900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Graphic 30" descr="Family with two children with solid fill">
            <a:extLst>
              <a:ext uri="{FF2B5EF4-FFF2-40B4-BE49-F238E27FC236}">
                <a16:creationId xmlns:a16="http://schemas.microsoft.com/office/drawing/2014/main" id="{DFBE15E1-ECA6-B1B6-37A6-94A7C736F5D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870181" y="342900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333775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1951</TotalTime>
  <Words>66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Chattaraj</dc:creator>
  <cp:lastModifiedBy>Abhishek Chattaraj</cp:lastModifiedBy>
  <cp:revision>10</cp:revision>
  <dcterms:created xsi:type="dcterms:W3CDTF">2025-12-22T02:22:35Z</dcterms:created>
  <dcterms:modified xsi:type="dcterms:W3CDTF">2025-12-27T04:06:12Z</dcterms:modified>
</cp:coreProperties>
</file>